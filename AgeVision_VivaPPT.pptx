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7F5AF0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5A38C8"/>
              </a:gs>
              <a:gs pos="100000">
                <a:srgbClr val="7F5AF0"/>
              </a:gs>
            </a:gsLst>
            <a:lin ang="0" scaled="0"/>
          </a:gradFill>
          <a:xfrm>
            <a:off x="0" y="6748272"/>
            <a:ext cx="12188952" cy="1097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12188952" cy="3840480"/>
          </a:xfrm>
          <a:prstGeom prst="rect">
            <a:avLst/>
          </a:prstGeom>
          <a:solidFill>
            <a:srgbClr val="F9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ge_visi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168"/>
            <a:ext cx="2286000" cy="1246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002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7F5AF0"/>
                </a:solidFill>
                <a:latin typeface="Sora"/>
              </a:rPr>
              <a:t>AgeVision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625"/>
                </a:solidFill>
                <a:latin typeface="Sora"/>
              </a:rPr>
              <a:t>AI Based Age Prediction and Age Progression System Using Facial Images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383280"/>
            <a:ext cx="4507992" cy="3175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B67D"/>
                </a:solidFill>
                <a:latin typeface="Sora"/>
              </a:rPr>
              <a:t>Neeraj Bhuvan M  |  Roll No. 2435MCA0011  |  Reg. No. 67224100038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C5880"/>
                </a:solidFill>
                <a:latin typeface="Sora"/>
              </a:rPr>
              <a:t>MCA IV  •  Anna University, Centre for Distance 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5880"/>
                </a:solidFill>
                <a:latin typeface="Sora"/>
              </a:rPr>
              <a:t>Guide: Dr. P. Geetha, Associate Professor, IST Dept., CEG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8906"/>
                </a:solidFill>
                <a:latin typeface="Sora"/>
              </a:rPr>
              <a:t>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C5880"/>
                </a:solidFill>
                <a:latin typeface="Sora"/>
              </a:rPr>
              <a:t>Viva-Voce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7F5AF0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8046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E"/>
                </a:solidFill>
                <a:latin typeface="Sora"/>
              </a:rP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E"/>
                </a:solidFill>
                <a:latin typeface="Sora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2540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5880"/>
                </a:solidFill>
                <a:latin typeface="Sora"/>
              </a:rPr>
              <a:t>AgeVision  •  MCA IV Project  •  Anna University CDE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486400" cy="548640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124712"/>
            <a:ext cx="5157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5AF0"/>
                </a:solidFill>
                <a:latin typeface="Sora"/>
              </a:rPr>
              <a:t>The Gap in Existing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1453896"/>
            <a:ext cx="5157216" cy="1905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00200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No free, unified platform for age prediction + progression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947672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Commercial APIs (Face++, AWS Rekognition) are paid &amp; privacy-invasive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295144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Open-source tools need developer expertise to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642616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Age progression lacks identity-preserving realism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990088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No system supports batch forensic-scale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337560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Missing emotion + demographic metadata alongside 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960120"/>
            <a:ext cx="5852160" cy="548640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124712"/>
            <a:ext cx="5522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B67D"/>
                </a:solidFill>
                <a:latin typeface="Sora"/>
              </a:rPr>
              <a:t>Why It Matters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453896"/>
            <a:ext cx="5522976" cy="1905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600200"/>
            <a:ext cx="5522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Forensics: missing-persons &amp; cold-case age 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1947672"/>
            <a:ext cx="5522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Healthcare: dermatological &amp; geriatric age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2295144"/>
            <a:ext cx="5522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Entertainment: VFX de-aging / aging without specialist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2642616"/>
            <a:ext cx="5522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Security: biometric age-gate &amp; facial liveness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2990088"/>
            <a:ext cx="5522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Academic: benchmark platform for generative AI 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3337560"/>
            <a:ext cx="5522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Insurance / HR: age-group analytics at scale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473952"/>
            <a:ext cx="11548872" cy="201168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483096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8906"/>
                </a:solidFill>
                <a:latin typeface="Sora"/>
              </a:rPr>
              <a:t>AgeVision bridges the gap: one platform, multiple engines, no cost, no data leaves your machine.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2CB67D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8046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E"/>
                </a:solidFill>
                <a:latin typeface="Sora"/>
              </a:rPr>
              <a:t>Core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E"/>
                </a:solidFill>
                <a:latin typeface="Sor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2540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5880"/>
                </a:solidFill>
                <a:latin typeface="Sora"/>
              </a:rPr>
              <a:t>AgeVision  •  MCA IV Project  •  Anna University CDE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623560" cy="109728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" y="1216152"/>
            <a:ext cx="347472" cy="347472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2161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069848"/>
            <a:ext cx="49651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25"/>
                </a:solidFill>
                <a:latin typeface="Sora"/>
              </a:rPr>
              <a:t>Develop Angular 19 + Django 5.2 web platform with single, batch &amp; real-time camera modes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960120"/>
            <a:ext cx="5623560" cy="109728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216152"/>
            <a:ext cx="347472" cy="347472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2161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069848"/>
            <a:ext cx="49651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25"/>
                </a:solidFill>
                <a:latin typeface="Sora"/>
              </a:rPr>
              <a:t>Implement ensemble age prediction: MiVOLO v2 primary (MAE ≤ 3.65 yr) + InsightFace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48840"/>
            <a:ext cx="5623560" cy="109728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" y="2404872"/>
            <a:ext cx="347472" cy="347472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24048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258568"/>
            <a:ext cx="49651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25"/>
                </a:solidFill>
                <a:latin typeface="Sora"/>
              </a:rPr>
              <a:t>Build 4-engine age progression cascade: SAM Indian → SAM FFHQ → Fast-AgingGAN → FADING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148840"/>
            <a:ext cx="5623560" cy="109728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1928" y="2404872"/>
            <a:ext cx="347472" cy="347472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24048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258568"/>
            <a:ext cx="49651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25"/>
                </a:solidFill>
                <a:latin typeface="Sora"/>
              </a:rPr>
              <a:t>Integrate ViT emotion detection (7 classes) alongside every prediction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37560"/>
            <a:ext cx="5623560" cy="109728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" y="3593592"/>
            <a:ext cx="347472" cy="347472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5935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447288"/>
            <a:ext cx="49651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25"/>
                </a:solidFill>
                <a:latin typeface="Sora"/>
              </a:rPr>
              <a:t>Secure platform via JWT auth, Fernet password encryption, rate limiting &amp; admin controls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337560"/>
            <a:ext cx="5623560" cy="109728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1928" y="3593592"/>
            <a:ext cx="347472" cy="347472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35935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447288"/>
            <a:ext cx="49651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25"/>
                </a:solidFill>
                <a:latin typeface="Sora"/>
              </a:rPr>
              <a:t>Hybrid persistence: MongoDB 4.6 (6 collections) + SQLite; user history &amp; batch records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526280"/>
            <a:ext cx="5623560" cy="109728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" y="4782312"/>
            <a:ext cx="347472" cy="347472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47823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636008"/>
            <a:ext cx="49651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25"/>
                </a:solidFill>
                <a:latin typeface="Sora"/>
              </a:rPr>
              <a:t>Analytics dashboard with Chart.js visualisations + IsSuperUser-gated admin panel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526280"/>
            <a:ext cx="5623560" cy="109728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4782312"/>
            <a:ext cx="347472" cy="347472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1928" y="47823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636008"/>
            <a:ext cx="49651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25"/>
                </a:solidFill>
                <a:latin typeface="Sora"/>
              </a:rPr>
              <a:t>Validate all 13 modules with a structured 44-case test catalogue (TC-AU to TC-AD)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7F5AF0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8046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E"/>
                </a:solidFill>
                <a:latin typeface="Sora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E"/>
                </a:solidFill>
                <a:latin typeface="Sora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2540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5880"/>
                </a:solidFill>
                <a:latin typeface="Sora"/>
              </a:rPr>
              <a:t>AgeVision  •  MCA IV Project  •  Anna University CDE  •  April 2026</a:t>
            </a:r>
          </a:p>
        </p:txBody>
      </p:sp>
      <p:pic>
        <p:nvPicPr>
          <p:cNvPr id="9" name="Picture 8" descr="fig_3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7863840" cy="502056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58200" y="914400"/>
            <a:ext cx="3429000" cy="1243584"/>
          </a:xfrm>
          <a:prstGeom prst="rect">
            <a:avLst/>
          </a:prstGeom>
          <a:solidFill>
            <a:srgbClr val="F4F1FC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0058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B67D"/>
                </a:solidFill>
                <a:latin typeface="Sora"/>
              </a:rPr>
              <a:t>Presentation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371600"/>
            <a:ext cx="3154680" cy="1270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426464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880"/>
                </a:solidFill>
                <a:latin typeface="Sora"/>
              </a:rPr>
              <a:t>Angular 19 SPA · Bootstrap 5 · Chart.js · RxJS 7.8 · TypeScript 5.7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2231136"/>
            <a:ext cx="3429000" cy="1243584"/>
          </a:xfrm>
          <a:prstGeom prst="rect">
            <a:avLst/>
          </a:prstGeom>
          <a:solidFill>
            <a:srgbClr val="F4F1FC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32257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5AF0"/>
                </a:solidFill>
                <a:latin typeface="Sora"/>
              </a:rPr>
              <a:t>API / Business 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688336"/>
            <a:ext cx="3154680" cy="1270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74320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880"/>
                </a:solidFill>
                <a:latin typeface="Sora"/>
              </a:rPr>
              <a:t>Django 5.2 · DRF · SimpleJWT · Fernet · 21 REST Endpoints · CORS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3547872"/>
            <a:ext cx="3429000" cy="1243584"/>
          </a:xfrm>
          <a:prstGeom prst="rect">
            <a:avLst/>
          </a:prstGeom>
          <a:solidFill>
            <a:srgbClr val="F4F1FC"/>
          </a:solidFill>
          <a:ln w="19050">
            <a:solidFill>
              <a:srgbClr val="FF89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6393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906"/>
                </a:solidFill>
                <a:latin typeface="Sora"/>
              </a:rPr>
              <a:t>AI / ML Tier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4005072"/>
            <a:ext cx="3154680" cy="12700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059936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880"/>
                </a:solidFill>
                <a:latin typeface="Sora"/>
              </a:rPr>
              <a:t>MiVOLO v2 · InsightFace · SAM GAN · Fast-AgingGAN · FADING Diffusion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4864608"/>
            <a:ext cx="3429000" cy="1243584"/>
          </a:xfrm>
          <a:prstGeom prst="rect">
            <a:avLst/>
          </a:prstGeom>
          <a:solidFill>
            <a:srgbClr val="F4F1FC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9560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B67D"/>
                </a:solidFill>
                <a:latin typeface="Sora"/>
              </a:rPr>
              <a:t>Persistence Tier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5321808"/>
            <a:ext cx="3154680" cy="1270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5376672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C5880"/>
                </a:solidFill>
                <a:latin typeface="Sora"/>
              </a:rPr>
              <a:t>MongoDB 4.6 (6 collections) · SQLite · Modal Cloud GPU · Local 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7F5AF0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8046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E"/>
                </a:solidFill>
                <a:latin typeface="Sora"/>
              </a:rPr>
              <a:t>Age Prediction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E"/>
                </a:solidFill>
                <a:latin typeface="Sora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2540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5880"/>
                </a:solidFill>
                <a:latin typeface="Sora"/>
              </a:rPr>
              <a:t>AgeVision  •  MCA IV Project  •  Anna University CDE  •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875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B67D"/>
                </a:solidFill>
                <a:latin typeface="Sora"/>
              </a:rPr>
              <a:t>MiVOLO v2 + InsightFace Ensemble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5486400" cy="1905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44752"/>
            <a:ext cx="5486400" cy="393192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09344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• Primary: MiVOLO v2  (ViT + YOLOv8 body context)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956816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• MAE: 3.65 yr on IMDB-WIKI / UTKFace test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304288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• Fallback: InsightFace buffalo_l  (RetinaFace + ArcFace, MAE ~8.5)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651760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• Joint face + body bounding-box inference per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999232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• Multi-face: detects &amp; ages N faces simultaneously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346704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• Confidence: 1 − (σ / max_age) from ensemble spread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694176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• Emotion: trpakov/vit-face-expression  (7 classes, ViT)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041648"/>
            <a:ext cx="5157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• Camera mode: live webcam capture + instant prediction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68112"/>
            <a:ext cx="5486400" cy="86868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55955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E"/>
                </a:solidFill>
                <a:latin typeface="Sora"/>
              </a:rPr>
              <a:t>MAE  3.65 yrs  |  40–50% better than single-model baselines</a:t>
            </a:r>
          </a:p>
        </p:txBody>
      </p:sp>
      <p:pic>
        <p:nvPicPr>
          <p:cNvPr id="22" name="Picture 21" descr="fig_4_3_mivolo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87552"/>
            <a:ext cx="5852160" cy="3078639"/>
          </a:xfrm>
          <a:prstGeom prst="rect">
            <a:avLst/>
          </a:prstGeom>
        </p:spPr>
      </p:pic>
      <p:pic>
        <p:nvPicPr>
          <p:cNvPr id="23" name="Picture 22" descr="fig_4_2_age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977639"/>
            <a:ext cx="5852160" cy="2331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9320" y="6382512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5880"/>
                </a:solidFill>
                <a:latin typeface="Sora"/>
              </a:rPr>
              <a:t>MiVOLO v2 Pipeline  /  Prediction UI  (Age + Gender + Emotion overlay)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FF8906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8046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E"/>
                </a:solidFill>
                <a:latin typeface="Sora"/>
              </a:rPr>
              <a:t>Age Progression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E"/>
                </a:solidFill>
                <a:latin typeface="Sora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25400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5880"/>
                </a:solidFill>
                <a:latin typeface="Sora"/>
              </a:rPr>
              <a:t>AgeVision  •  MCA IV Project  •  Anna University CDE  •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B67D"/>
                </a:solidFill>
                <a:latin typeface="Sora"/>
              </a:rPr>
              <a:t>4-Engine Cascade Architecture  —  Automatic quality-first fallback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48872" cy="19050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88920" cy="1920240"/>
          </a:xfrm>
          <a:prstGeom prst="rect">
            <a:avLst/>
          </a:prstGeom>
          <a:solidFill>
            <a:srgbClr val="F4F1FC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508760"/>
            <a:ext cx="2569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F5AF0"/>
                </a:solidFill>
                <a:latin typeface="Sora"/>
              </a:rPr>
              <a:t>SAM GAN
(Indian)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1965960"/>
            <a:ext cx="2569464" cy="1270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039112"/>
            <a:ext cx="2569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5880"/>
                </a:solidFill>
                <a:latin typeface="Sora"/>
              </a:rPr>
              <a:t>pSp encoder + StyleGAN2
Indian-finetuned checkpoint
Target age: 0–100
FaceNet identity threshold 0.6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3026664"/>
            <a:ext cx="2569464" cy="256032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026664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E"/>
                </a:solidFill>
                <a:latin typeface="Sora"/>
              </a:rPr>
              <a:t>PRIMARY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45536" y="2364740"/>
            <a:ext cx="173736" cy="25400"/>
          </a:xfrm>
          <a:prstGeom prst="rect">
            <a:avLst/>
          </a:prstGeom>
          <a:solidFill>
            <a:srgbClr val="5C5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9272" y="1417320"/>
            <a:ext cx="2788920" cy="1920240"/>
          </a:xfrm>
          <a:prstGeom prst="rect">
            <a:avLst/>
          </a:prstGeom>
          <a:solidFill>
            <a:srgbClr val="F4F1FC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508760"/>
            <a:ext cx="2569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F5AF0"/>
                </a:solidFill>
                <a:latin typeface="Sora"/>
              </a:rPr>
              <a:t>SAM FFHQ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1965960"/>
            <a:ext cx="2569464" cy="1270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039112"/>
            <a:ext cx="2569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5880"/>
                </a:solidFill>
                <a:latin typeface="Sora"/>
              </a:rPr>
              <a:t>pSp + StyleGAN2
General-population
Western &amp; diverse faces
3–8 s GPU latency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3026664"/>
            <a:ext cx="2569464" cy="256032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026664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E"/>
                </a:solidFill>
                <a:latin typeface="Sora"/>
              </a:rPr>
              <a:t>FALLBACK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2364740"/>
            <a:ext cx="173736" cy="25400"/>
          </a:xfrm>
          <a:prstGeom prst="rect">
            <a:avLst/>
          </a:prstGeom>
          <a:solidFill>
            <a:srgbClr val="5C5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18504" y="1417320"/>
            <a:ext cx="2788920" cy="1920240"/>
          </a:xfrm>
          <a:prstGeom prst="rect">
            <a:avLst/>
          </a:prstGeom>
          <a:solidFill>
            <a:srgbClr val="F4F1FC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1508760"/>
            <a:ext cx="2569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B67D"/>
                </a:solidFill>
                <a:latin typeface="Sora"/>
              </a:rPr>
              <a:t>Fast-AgingGAN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28232" y="1965960"/>
            <a:ext cx="2569464" cy="1270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2039112"/>
            <a:ext cx="2569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5880"/>
                </a:solidFill>
                <a:latin typeface="Sora"/>
              </a:rPr>
              <a:t>CycleGAN architecture
~11 MB model size
CPU-friendly, no GPU needed
Young → old direction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8232" y="3026664"/>
            <a:ext cx="2569464" cy="256032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3026664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E"/>
                </a:solidFill>
                <a:latin typeface="Sora"/>
              </a:rPr>
              <a:t>FALLBACK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364740"/>
            <a:ext cx="173736" cy="25400"/>
          </a:xfrm>
          <a:prstGeom prst="rect">
            <a:avLst/>
          </a:prstGeom>
          <a:solidFill>
            <a:srgbClr val="5C5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17736" y="1417320"/>
            <a:ext cx="2788920" cy="1920240"/>
          </a:xfrm>
          <a:prstGeom prst="rect">
            <a:avLst/>
          </a:prstGeom>
          <a:solidFill>
            <a:srgbClr val="F4F1FC"/>
          </a:solidFill>
          <a:ln w="19050">
            <a:solidFill>
              <a:srgbClr val="FF89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7464" y="1508760"/>
            <a:ext cx="2569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906"/>
                </a:solidFill>
                <a:latin typeface="Sora"/>
              </a:rPr>
              <a:t>FADING
Diffusion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27464" y="1965960"/>
            <a:ext cx="2569464" cy="12700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27464" y="2039112"/>
            <a:ext cx="25694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5880"/>
                </a:solidFill>
                <a:latin typeface="Sora"/>
              </a:rPr>
              <a:t>Stable Diffusion v1.5
Null-text inversion
Bidirectional aging
Modal A10G GPU optional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27464" y="3026664"/>
            <a:ext cx="2569464" cy="256032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27464" y="3026664"/>
            <a:ext cx="2569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E"/>
                </a:solidFill>
                <a:latin typeface="Sora"/>
              </a:rPr>
              <a:t>PREMIUM</a:t>
            </a:r>
          </a:p>
        </p:txBody>
      </p:sp>
      <p:pic>
        <p:nvPicPr>
          <p:cNvPr id="38" name="Picture 37" descr="fig_4_4_sam_ga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429000"/>
            <a:ext cx="5760720" cy="28955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263640" y="3520440"/>
            <a:ext cx="5577840" cy="804672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520440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E"/>
                </a:solidFill>
                <a:latin typeface="Sora"/>
              </a:rPr>
              <a:t>95%+  Identity Preservation  (FaceNet similarity ≥ 0.6)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434840"/>
            <a:ext cx="5577840" cy="804672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434840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E"/>
                </a:solidFill>
                <a:latin typeface="Sora"/>
              </a:rPr>
              <a:t>3–8 s  Progression Latency  (SAM GAN on GPU)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5349240"/>
            <a:ext cx="5577840" cy="804672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349240"/>
            <a:ext cx="5577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E"/>
                </a:solidFill>
                <a:latin typeface="Sora"/>
              </a:rPr>
              <a:t>Target Age Range: 20 · 30 · 40 · 50 · 60 · 70 · 80 yrs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547104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5880"/>
                </a:solidFill>
                <a:latin typeface="Sora"/>
              </a:rPr>
              <a:t>SAM GAN pSp Encoder → StyleGAN2 W+ Decoder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2CB67D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8046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E"/>
                </a:solidFill>
                <a:latin typeface="Sora"/>
              </a:rPr>
              <a:t>Application Demo — Angular 19 SPA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E"/>
                </a:solidFill>
                <a:latin typeface="Sora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2540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5880"/>
                </a:solidFill>
                <a:latin typeface="Sora"/>
              </a:rPr>
              <a:t>AgeVision  •  MCA IV Project  •  Anna University CDE  •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89611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C5880"/>
                </a:solidFill>
                <a:latin typeface="Sora"/>
              </a:rPr>
              <a:t>21 REST Endpoints  •  Dark / Light Themes  •  Mobile-Responsive  •  JWT-Secured</a:t>
            </a:r>
          </a:p>
        </p:txBody>
      </p:sp>
      <p:pic>
        <p:nvPicPr>
          <p:cNvPr id="10" name="Picture 9" descr="fig_4_8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5577840" cy="2651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1234440"/>
            <a:ext cx="55778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9319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B67D"/>
                </a:solidFill>
                <a:latin typeface="Sora"/>
              </a:rPr>
              <a:t>Dashboard — KPI Cards &amp; Quick Actions</a:t>
            </a:r>
          </a:p>
        </p:txBody>
      </p:sp>
      <p:pic>
        <p:nvPicPr>
          <p:cNvPr id="13" name="Picture 12" descr="fig_4_2_age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669280" cy="2651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72200" y="1234440"/>
            <a:ext cx="566928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9319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F5AF0"/>
                </a:solidFill>
                <a:latin typeface="Sora"/>
              </a:rPr>
              <a:t>Age Prediction — Upload / Camera Modes</a:t>
            </a:r>
          </a:p>
        </p:txBody>
      </p:sp>
      <p:pic>
        <p:nvPicPr>
          <p:cNvPr id="16" name="Picture 15" descr="fig_4_12_analysis_dashboard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69080"/>
            <a:ext cx="5577840" cy="2651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20040" y="4069080"/>
            <a:ext cx="55778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9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7665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906"/>
                </a:solidFill>
                <a:latin typeface="Sora"/>
              </a:rPr>
              <a:t>Analytics — Charts, Distributions</a:t>
            </a:r>
          </a:p>
        </p:txBody>
      </p:sp>
      <p:pic>
        <p:nvPicPr>
          <p:cNvPr id="19" name="Picture 18" descr="fig_4_14_admin_pa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069080"/>
            <a:ext cx="5669280" cy="2651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72200" y="4069080"/>
            <a:ext cx="566928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67665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B67D"/>
                </a:solidFill>
                <a:latin typeface="Sora"/>
              </a:rPr>
              <a:t>Admin Panel — User Management &amp; 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7F5AF0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8046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E"/>
                </a:solidFill>
                <a:latin typeface="Sora"/>
              </a:rPr>
              <a:t>Results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E"/>
                </a:solidFill>
                <a:latin typeface="Sora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2540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5880"/>
                </a:solidFill>
                <a:latin typeface="Sora"/>
              </a:rPr>
              <a:t>AgeVision  •  MCA IV Project  •  Anna University CDE  •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987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5AF0"/>
                </a:solidFill>
                <a:latin typeface="Sora"/>
              </a:rPr>
              <a:t>Age Prediction Accuracy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353312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5720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Model</a:t>
                      </a:r>
                    </a:p>
                  </a:txBody>
                  <a:tcPr>
                    <a:solidFill>
                      <a:srgbClr val="7F5A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MAE (years)</a:t>
                      </a:r>
                    </a:p>
                  </a:txBody>
                  <a:tcPr>
                    <a:solidFill>
                      <a:srgbClr val="7F5A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Use Case</a:t>
                      </a:r>
                    </a:p>
                  </a:txBody>
                  <a:tcPr>
                    <a:solidFill>
                      <a:srgbClr val="7F5A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5720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MiVOLO v2 (Primary)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3.65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Main engine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5720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InsightFace buffalo_l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~8.5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Fallback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5720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DeepFace EfficientNet (ref)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~6.0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Baseline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2918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B67D"/>
                </a:solidFill>
                <a:latin typeface="Sora"/>
              </a:rPr>
              <a:t>Age Progression Quality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657600"/>
          <a:ext cx="5394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1148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Engine</a:t>
                      </a:r>
                    </a:p>
                  </a:txBody>
                  <a:tcPr>
                    <a:solidFill>
                      <a:srgbClr val="2CB67D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Identity Score</a:t>
                      </a:r>
                    </a:p>
                  </a:txBody>
                  <a:tcPr>
                    <a:solidFill>
                      <a:srgbClr val="2CB67D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Latency</a:t>
                      </a:r>
                    </a:p>
                  </a:txBody>
                  <a:tcPr>
                    <a:solidFill>
                      <a:srgbClr val="2CB67D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1148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SAM GAN (Indian)</a:t>
                      </a:r>
                    </a:p>
                  </a:txBody>
                  <a:tcPr>
                    <a:solidFill>
                      <a:srgbClr val="E8F7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0.82 avg</a:t>
                      </a:r>
                    </a:p>
                  </a:txBody>
                  <a:tcPr>
                    <a:solidFill>
                      <a:srgbClr val="E8F7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4–6 s</a:t>
                      </a:r>
                    </a:p>
                  </a:txBody>
                  <a:tcPr>
                    <a:solidFill>
                      <a:srgbClr val="E8F7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1148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SAM FFHQ</a:t>
                      </a:r>
                    </a:p>
                  </a:txBody>
                  <a:tcPr>
                    <a:solidFill>
                      <a:srgbClr val="F4FCF8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0.79 avg</a:t>
                      </a:r>
                    </a:p>
                  </a:txBody>
                  <a:tcPr>
                    <a:solidFill>
                      <a:srgbClr val="F4FCF8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4–6 s</a:t>
                      </a:r>
                    </a:p>
                  </a:txBody>
                  <a:tcPr>
                    <a:solidFill>
                      <a:srgbClr val="F4FCF8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1148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Fast-AgingGAN</a:t>
                      </a:r>
                    </a:p>
                  </a:txBody>
                  <a:tcPr>
                    <a:solidFill>
                      <a:srgbClr val="E8F7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0.71 avg</a:t>
                      </a:r>
                    </a:p>
                  </a:txBody>
                  <a:tcPr>
                    <a:solidFill>
                      <a:srgbClr val="E8F7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1–2 s</a:t>
                      </a:r>
                    </a:p>
                  </a:txBody>
                  <a:tcPr>
                    <a:solidFill>
                      <a:srgbClr val="E8F7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1148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FADING Diffusion</a:t>
                      </a:r>
                    </a:p>
                  </a:txBody>
                  <a:tcPr>
                    <a:solidFill>
                      <a:srgbClr val="F4FCF8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0.88 avg</a:t>
                      </a:r>
                    </a:p>
                  </a:txBody>
                  <a:tcPr>
                    <a:solidFill>
                      <a:srgbClr val="F4FCF8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A1625"/>
                          </a:solidFill>
                          <a:latin typeface="Sora"/>
                        </a:rPr>
                        <a:t>6–10 s GPU</a:t>
                      </a:r>
                    </a:p>
                  </a:txBody>
                  <a:tcPr>
                    <a:solidFill>
                      <a:srgbClr val="F4FCF8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3" name="Picture 12" descr="Figure_4_6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87552"/>
            <a:ext cx="6035040" cy="4648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97880" y="6455664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C5880"/>
                </a:solidFill>
                <a:latin typeface="Sora"/>
              </a:rPr>
              <a:t>Progression Comparison Grid — Multiple ethnicities, ages 30 → 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852160"/>
            <a:ext cx="5394960" cy="566928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59436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Best result: Korean Male @ Age 40 →  97.0% Accuracy  |  SSIM 0.92  |  PSNR 27.74 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2CB67D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8046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E"/>
                </a:solidFill>
                <a:latin typeface="Sora"/>
              </a:rPr>
              <a:t>Testing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E"/>
                </a:solidFill>
                <a:latin typeface="Sora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2540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5880"/>
                </a:solidFill>
                <a:latin typeface="Sora"/>
              </a:rPr>
              <a:t>AgeVision  •  MCA IV Project  •  Anna University CDE  •  April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987552"/>
          <a:ext cx="1154887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218"/>
                <a:gridCol w="2887218"/>
                <a:gridCol w="2887218"/>
                <a:gridCol w="2887218"/>
              </a:tblGrid>
              <a:tr h="49784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E"/>
                          </a:solidFill>
                          <a:latin typeface="Sora"/>
                        </a:rPr>
                        <a:t>Test Suite</a:t>
                      </a:r>
                    </a:p>
                  </a:txBody>
                  <a:tcPr>
                    <a:solidFill>
                      <a:srgbClr val="7F5A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E"/>
                          </a:solidFill>
                          <a:latin typeface="Sora"/>
                        </a:rPr>
                        <a:t>Coverage Area</a:t>
                      </a:r>
                    </a:p>
                  </a:txBody>
                  <a:tcPr>
                    <a:solidFill>
                      <a:srgbClr val="7F5A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E"/>
                          </a:solidFill>
                          <a:latin typeface="Sora"/>
                        </a:rPr>
                        <a:t>Cases</a:t>
                      </a:r>
                    </a:p>
                  </a:txBody>
                  <a:tcPr>
                    <a:solidFill>
                      <a:srgbClr val="7F5A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E"/>
                          </a:solidFill>
                          <a:latin typeface="Sora"/>
                        </a:rPr>
                        <a:t>Status</a:t>
                      </a:r>
                    </a:p>
                  </a:txBody>
                  <a:tcPr>
                    <a:solidFill>
                      <a:srgbClr val="7F5AF0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9784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TC-AUTH-001–006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Authentication &amp; JWT Token Management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6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PASS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9784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TC-PRED-001–010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Single &amp; Multi-Face Age Prediction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10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PASS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9784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TC-BATCH-001–005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Batch Upload &amp; Processing Pipeline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5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PASS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9784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TC-PROG-001–008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GAN / Diffusion Age Progression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8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PASS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9784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TC-HIST-001–004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Prediction History &amp; MongoDB Retrieval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4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PASS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9784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TC-ANAL-001–006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Analytics Dashboard &amp; Chart Data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6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PASS</a:t>
                      </a:r>
                    </a:p>
                  </a:txBody>
                  <a:tcPr>
                    <a:solidFill>
                      <a:srgbClr val="F8F6FF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9784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TC-ADMIN-001–005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Admin Panel: Users, Health, Logs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5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1A1625"/>
                          </a:solidFill>
                          <a:latin typeface="Sora"/>
                        </a:rPr>
                        <a:t>PASS</a:t>
                      </a:r>
                    </a:p>
                  </a:txBody>
                  <a:tcPr>
                    <a:solidFill>
                      <a:srgbClr val="EDE8FC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  <a:tr h="497840"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TOTAL</a:t>
                      </a:r>
                    </a:p>
                  </a:txBody>
                  <a:tcPr>
                    <a:solidFill>
                      <a:srgbClr val="2CB67D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All 13 Functional Modules</a:t>
                      </a:r>
                    </a:p>
                  </a:txBody>
                  <a:tcPr>
                    <a:solidFill>
                      <a:srgbClr val="2CB67D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44</a:t>
                      </a:r>
                    </a:p>
                  </a:txBody>
                  <a:tcPr>
                    <a:solidFill>
                      <a:srgbClr val="2CB67D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  <a:tc>
                  <a:txBody>
                    <a:bodyPr lIns="73152" rIns="36576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E"/>
                          </a:solidFill>
                          <a:latin typeface="Sora"/>
                        </a:rPr>
                        <a:t>100% PASS</a:t>
                      </a:r>
                    </a:p>
                  </a:txBody>
                  <a:tcPr>
                    <a:solidFill>
                      <a:srgbClr val="2CB67D"/>
                    </a:solidFill>
                    <a:lnL w="12700">
                      <a:solidFill>
                        <a:srgbClr val="D4C8F5"/>
                      </a:solidFill>
                    </a:lnL>
                    <a:lnR w="12700">
                      <a:solidFill>
                        <a:srgbClr val="D4C8F5"/>
                      </a:solidFill>
                    </a:lnR>
                    <a:lnT w="12700">
                      <a:solidFill>
                        <a:srgbClr val="D4C8F5"/>
                      </a:solidFill>
                    </a:lnT>
                    <a:lnB w="12700">
                      <a:solidFill>
                        <a:srgbClr val="D4C8F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5577840"/>
            <a:ext cx="3593592" cy="86868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5715000"/>
            <a:ext cx="3593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E"/>
                </a:solidFill>
                <a:latin typeface="Sora"/>
              </a:rPr>
              <a:t>44 Test Cases  |  100% Pass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5577840"/>
            <a:ext cx="3593592" cy="868680"/>
          </a:xfrm>
          <a:prstGeom prst="rect">
            <a:avLst/>
          </a:prstGeom>
          <a:solidFill>
            <a:srgbClr val="2C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5715000"/>
            <a:ext cx="3593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E"/>
                </a:solidFill>
                <a:latin typeface="Sora"/>
              </a:rPr>
              <a:t>13 Modules Fully Implemented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5577840"/>
            <a:ext cx="3593592" cy="868680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5715000"/>
            <a:ext cx="3593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E"/>
                </a:solidFill>
                <a:latin typeface="Sora"/>
              </a:rPr>
              <a:t>21 REST API Endpoints Validated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FF8906"/>
              </a:gs>
              <a:gs pos="100000">
                <a:srgbClr val="5A38C8"/>
              </a:gs>
            </a:gsLst>
            <a:lin ang="0" scaled="0"/>
          </a:gradFill>
          <a:xfrm>
            <a:off x="0" y="0"/>
            <a:ext cx="12188952" cy="80467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E"/>
                </a:solidFill>
                <a:latin typeface="Sora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E"/>
                </a:solidFill>
                <a:latin typeface="Sora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25400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5880"/>
                </a:solidFill>
                <a:latin typeface="Sora"/>
              </a:rPr>
              <a:t>AgeVision  •  MCA IV Project  •  Anna University CDE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87552"/>
            <a:ext cx="5577840" cy="5577840"/>
          </a:xfrm>
          <a:prstGeom prst="rect">
            <a:avLst/>
          </a:prstGeom>
          <a:solidFill>
            <a:srgbClr val="F4F1FC"/>
          </a:solidFill>
          <a:ln w="9525">
            <a:solidFill>
              <a:srgbClr val="D4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152144"/>
            <a:ext cx="5248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B67D"/>
                </a:solidFill>
                <a:latin typeface="Sora"/>
              </a:rP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1481328"/>
            <a:ext cx="5248656" cy="1905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27632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MiVOLO v2 ensemble — MAE 3.65 yrs (40-50% better than baselines)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975104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4-engine progression cascade with 95%+ identity preservation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322576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FADING diffusion — bidirectional photorealistic 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670048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13 functional modules, 21 REST endpoints, JWT-secured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017520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Hybrid MongoDB + SQLite persistence (6 collections)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364992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Full analytics dashboard + IsSuperUser admin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712464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25"/>
                </a:solidFill>
                <a:latin typeface="Sora"/>
              </a:rPr>
              <a:t>• Glassmorphic Angular 19 SPA — dark &amp; light themes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987552"/>
            <a:ext cx="5788152" cy="5577840"/>
          </a:xfrm>
          <a:prstGeom prst="rect">
            <a:avLst/>
          </a:prstGeom>
          <a:solidFill>
            <a:srgbClr val="F4F1FC"/>
          </a:solidFill>
          <a:ln w="19050">
            <a:solidFill>
              <a:srgbClr val="FF89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078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906"/>
                </a:solidFill>
                <a:latin typeface="Sora"/>
              </a:rPr>
              <a:t>Future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1444752"/>
            <a:ext cx="5486400" cy="19050"/>
          </a:xfrm>
          <a:prstGeom prst="rect">
            <a:avLst/>
          </a:prstGeom>
          <a:solidFill>
            <a:srgbClr val="7F5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1572768"/>
            <a:ext cx="384048" cy="347472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5727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1572768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3D face mesh aging (Neural Radiance Fields / NeRF)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2340864"/>
            <a:ext cx="384048" cy="347472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23408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6" y="2340864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Mobile-optimised TFLite / CoreML export for iOS &amp; Android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3108960"/>
            <a:ext cx="384048" cy="347472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31089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3108960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Real-time video stream age-overlay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3877056"/>
            <a:ext cx="384048" cy="347472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38770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1696" y="3877056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Federated learning for privacy-preserving model retraining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4645152"/>
            <a:ext cx="384048" cy="347472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464515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1696" y="4645152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Expanded Indian ethnic dataset for SAM GAN fine-tuning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8" y="5413248"/>
            <a:ext cx="384048" cy="347472"/>
          </a:xfrm>
          <a:prstGeom prst="rect">
            <a:avLst/>
          </a:prstGeom>
          <a:solidFill>
            <a:srgbClr val="FF8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541324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E"/>
                </a:solidFill>
                <a:latin typeface="Sor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5413248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625"/>
                </a:solidFill>
                <a:latin typeface="Sora"/>
              </a:rPr>
              <a:t>Cross-platform Electron desktop &amp; PDF batch-export module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50138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F5AF0"/>
                </a:solidFill>
                <a:latin typeface="Sora"/>
              </a:rPr>
              <a:t>Thank You  —  Open to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